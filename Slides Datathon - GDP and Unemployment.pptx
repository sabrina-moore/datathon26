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DM Sans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DMSans-bold.fntdata"/><Relationship Id="rId12" Type="http://schemas.openxmlformats.org/officeDocument/2006/relationships/font" Target="fonts/DMSans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DMSans-boldItalic.fntdata"/><Relationship Id="rId14" Type="http://schemas.openxmlformats.org/officeDocument/2006/relationships/font" Target="fonts/DMSa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f30cf7a1f9880c1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7f30cf7a1f9880c1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7f30cf7a1f9880c1_3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7f30cf7a1f9880c1_3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7f30cf7a1f9880c1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h7f30cf7a1f9880c1_3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7f30cf7a1f9880c1_8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h7f30cf7a1f9880c1_8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7f30cf7a1f9880c1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h7f30cf7a1f9880c1_3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-361443" y="-2123841"/>
            <a:ext cx="9629035" cy="9629035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69" y="0"/>
                </a:lnTo>
                <a:lnTo>
                  <a:pt x="19258069" y="19258069"/>
                </a:lnTo>
                <a:lnTo>
                  <a:pt x="0" y="192580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514350" y="530450"/>
            <a:ext cx="7801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chemeClr val="accent4"/>
                </a:solidFill>
              </a:rPr>
              <a:t>Economic Struggles</a:t>
            </a:r>
            <a:endParaRPr b="1" sz="6000">
              <a:solidFill>
                <a:schemeClr val="accent4"/>
              </a:solidFill>
            </a:endParaRPr>
          </a:p>
          <a:p>
            <a:pPr indent="0" lvl="0" marL="0" marR="0" rtl="0" algn="l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0">
              <a:solidFill>
                <a:schemeClr val="accent4"/>
              </a:solidFill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514350" y="3042875"/>
            <a:ext cx="50949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343434"/>
              </a:solidFill>
            </a:endParaRPr>
          </a:p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rgbClr val="343434"/>
              </a:solidFill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326575" y="3501575"/>
            <a:ext cx="82479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Datathon 2026</a:t>
            </a:r>
            <a:endParaRPr sz="2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Team Name: NaNaNaNa</a:t>
            </a:r>
            <a:endParaRPr sz="2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Members: Sabrina Moore, Kayla Perkins, Christopher Hurtado</a:t>
            </a:r>
            <a:endParaRPr sz="2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8126782" y="4495800"/>
            <a:ext cx="50286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01</a:t>
            </a:r>
            <a:endParaRPr sz="700"/>
          </a:p>
        </p:txBody>
      </p:sp>
      <p:sp>
        <p:nvSpPr>
          <p:cNvPr id="134" name="Google Shape;134;p25"/>
          <p:cNvSpPr txBox="1"/>
          <p:nvPr/>
        </p:nvSpPr>
        <p:spPr>
          <a:xfrm>
            <a:off x="596475" y="1694400"/>
            <a:ext cx="7227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relationship between </a:t>
            </a: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GDP</a:t>
            </a: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unemployment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/>
          <p:nvPr/>
        </p:nvSpPr>
        <p:spPr>
          <a:xfrm>
            <a:off x="-242518" y="-2242767"/>
            <a:ext cx="9629035" cy="9629035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26"/>
          <p:cNvSpPr txBox="1"/>
          <p:nvPr/>
        </p:nvSpPr>
        <p:spPr>
          <a:xfrm>
            <a:off x="1207050" y="899125"/>
            <a:ext cx="67299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Is there a disparity between how GDP affects men and women’s unemployment rate?</a:t>
            </a:r>
            <a:endParaRPr sz="700">
              <a:solidFill>
                <a:schemeClr val="accent4"/>
              </a:solidFill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7500379" y="97525"/>
            <a:ext cx="102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Team NaNaNaNa</a:t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8126782" y="4495800"/>
            <a:ext cx="502868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02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-242518" y="-2242767"/>
            <a:ext cx="9629035" cy="9629035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27"/>
          <p:cNvSpPr txBox="1"/>
          <p:nvPr/>
        </p:nvSpPr>
        <p:spPr>
          <a:xfrm>
            <a:off x="376050" y="93970"/>
            <a:ext cx="353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Analysis</a:t>
            </a:r>
            <a:endParaRPr b="1" sz="700">
              <a:solidFill>
                <a:schemeClr val="accent4"/>
              </a:solidFill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7546279" y="93975"/>
            <a:ext cx="1037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Team NaNaNaNa</a:t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8126782" y="4495800"/>
            <a:ext cx="50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</a:t>
            </a:r>
            <a:r>
              <a:rPr b="1" lang="en" sz="8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sz="700"/>
          </a:p>
        </p:txBody>
      </p:sp>
      <p:pic>
        <p:nvPicPr>
          <p:cNvPr id="151" name="Google Shape;151;p27"/>
          <p:cNvPicPr preferRelativeResize="0"/>
          <p:nvPr/>
        </p:nvPicPr>
        <p:blipFill rotWithShape="1">
          <a:blip r:embed="rId4">
            <a:alphaModFix/>
          </a:blip>
          <a:srcRect b="0" l="0" r="0" t="14237"/>
          <a:stretch/>
        </p:blipFill>
        <p:spPr>
          <a:xfrm>
            <a:off x="4572000" y="2364025"/>
            <a:ext cx="4572001" cy="18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/>
          <p:cNvPicPr preferRelativeResize="0"/>
          <p:nvPr/>
        </p:nvPicPr>
        <p:blipFill rotWithShape="1">
          <a:blip r:embed="rId5">
            <a:alphaModFix/>
          </a:blip>
          <a:srcRect b="0" l="0" r="0" t="10913"/>
          <a:stretch/>
        </p:blipFill>
        <p:spPr>
          <a:xfrm>
            <a:off x="62875" y="2364025"/>
            <a:ext cx="4454601" cy="188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376050" y="555675"/>
            <a:ext cx="2118000" cy="1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Variables</a:t>
            </a:r>
            <a:endParaRPr b="1" sz="12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Gdp_per_capita_usd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female_unemployment_pct</a:t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male_unemployment_pct</a:t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3224775" y="555675"/>
            <a:ext cx="43215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Why compare men and women’s unemployment rate?</a:t>
            </a:r>
            <a:endParaRPr sz="12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Men and women tend to cluster in different sectors (domains of work) </a:t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Factors like gender, race, and disability can show systemic disadvantages  </a:t>
            </a:r>
            <a:endParaRPr b="1"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-242518" y="-2242767"/>
            <a:ext cx="9629035" cy="9629035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28"/>
          <p:cNvSpPr txBox="1"/>
          <p:nvPr/>
        </p:nvSpPr>
        <p:spPr>
          <a:xfrm>
            <a:off x="376050" y="93970"/>
            <a:ext cx="353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4"/>
                </a:solidFill>
              </a:rPr>
              <a:t>Analysis</a:t>
            </a:r>
            <a:endParaRPr b="1" sz="700">
              <a:solidFill>
                <a:schemeClr val="accent4"/>
              </a:solidFill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7546279" y="93975"/>
            <a:ext cx="10377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Team NaNaNaNa</a:t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8126782" y="4495800"/>
            <a:ext cx="50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</a:t>
            </a:r>
            <a:r>
              <a:rPr b="1" lang="en" sz="8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sz="700"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475" y="1252175"/>
            <a:ext cx="3954475" cy="371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7475" y="1252175"/>
            <a:ext cx="4228648" cy="371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5E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/>
          <p:nvPr/>
        </p:nvSpPr>
        <p:spPr>
          <a:xfrm>
            <a:off x="2989827" y="717500"/>
            <a:ext cx="4044194" cy="770323"/>
          </a:xfrm>
          <a:custGeom>
            <a:rect b="b" l="l" r="r" t="t"/>
            <a:pathLst>
              <a:path extrusionOk="0" h="19258069" w="19258069">
                <a:moveTo>
                  <a:pt x="0" y="0"/>
                </a:moveTo>
                <a:lnTo>
                  <a:pt x="19258070" y="0"/>
                </a:lnTo>
                <a:lnTo>
                  <a:pt x="19258070" y="19258070"/>
                </a:lnTo>
                <a:lnTo>
                  <a:pt x="0" y="19258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0" name="Google Shape;170;p29"/>
          <p:cNvSpPr txBox="1"/>
          <p:nvPr/>
        </p:nvSpPr>
        <p:spPr>
          <a:xfrm>
            <a:off x="282875" y="239250"/>
            <a:ext cx="506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b="1" lang="en" sz="3000">
                <a:solidFill>
                  <a:srgbClr val="38761D"/>
                </a:solidFill>
              </a:rPr>
              <a:t>ata</a:t>
            </a:r>
            <a:r>
              <a:rPr b="1" i="0" lang="en" sz="3000" u="none" cap="none" strike="noStrik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 Insights/Conclusion</a:t>
            </a:r>
            <a:endParaRPr sz="700">
              <a:solidFill>
                <a:srgbClr val="38761D"/>
              </a:solidFill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828872" y="1604834"/>
            <a:ext cx="2027400" cy="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Female Unemployment is slightly higher, but mainly affected by outliers </a:t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8126782" y="4495800"/>
            <a:ext cx="502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Page 0</a:t>
            </a:r>
            <a:r>
              <a:rPr b="1" lang="en" sz="8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sz="700"/>
          </a:p>
        </p:txBody>
      </p:sp>
      <p:sp>
        <p:nvSpPr>
          <p:cNvPr id="173" name="Google Shape;173;p29"/>
          <p:cNvSpPr txBox="1"/>
          <p:nvPr/>
        </p:nvSpPr>
        <p:spPr>
          <a:xfrm>
            <a:off x="1471625" y="1313200"/>
            <a:ext cx="837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Gender</a:t>
            </a:r>
            <a:endParaRPr sz="700"/>
          </a:p>
        </p:txBody>
      </p:sp>
      <p:sp>
        <p:nvSpPr>
          <p:cNvPr id="174" name="Google Shape;174;p29"/>
          <p:cNvSpPr txBox="1"/>
          <p:nvPr/>
        </p:nvSpPr>
        <p:spPr>
          <a:xfrm>
            <a:off x="3402875" y="1604825"/>
            <a:ext cx="23979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When GDP is lower, both men and women unemployment percentage is high. Alternatively when GDP is higher, both men and women unemployment percentage is low.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DM Sans"/>
                <a:ea typeface="DM Sans"/>
                <a:cs typeface="DM Sans"/>
                <a:sym typeface="DM Sans"/>
              </a:rPr>
              <a:t>Some low-GDP countries have near 0% unemployment, while others spike very high (some near or above 20-30%).</a:t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0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3963383" y="1302837"/>
            <a:ext cx="1217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Overall</a:t>
            </a:r>
            <a:endParaRPr sz="700"/>
          </a:p>
        </p:txBody>
      </p:sp>
      <p:sp>
        <p:nvSpPr>
          <p:cNvPr id="176" name="Google Shape;176;p29"/>
          <p:cNvSpPr txBox="1"/>
          <p:nvPr/>
        </p:nvSpPr>
        <p:spPr>
          <a:xfrm>
            <a:off x="6319036" y="1302837"/>
            <a:ext cx="1131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Further Thoughts</a:t>
            </a:r>
            <a:endParaRPr sz="700"/>
          </a:p>
        </p:txBody>
      </p:sp>
      <p:sp>
        <p:nvSpPr>
          <p:cNvPr id="177" name="Google Shape;177;p29"/>
          <p:cNvSpPr txBox="1"/>
          <p:nvPr/>
        </p:nvSpPr>
        <p:spPr>
          <a:xfrm>
            <a:off x="7503555" y="330900"/>
            <a:ext cx="10806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9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Team NaNaNaNa</a:t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6007975" y="1493225"/>
            <a:ext cx="22701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difference between male and female unemployment is small and does not support the idea that a country’s GDP alone affects women and men differently.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What other factors, like work domains/career fields could contribute to the small gender gap?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How does this trend change over time? 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342575" y="2201225"/>
            <a:ext cx="3000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Mean for female unemployment: 8.072</a:t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1000"/>
              <a:buFont typeface="DM Sans"/>
              <a:buChar char="●"/>
            </a:pPr>
            <a:r>
              <a:rPr lang="en" sz="1000">
                <a:solidFill>
                  <a:srgbClr val="343434"/>
                </a:solidFill>
                <a:latin typeface="DM Sans"/>
                <a:ea typeface="DM Sans"/>
                <a:cs typeface="DM Sans"/>
                <a:sym typeface="DM Sans"/>
              </a:rPr>
              <a:t>Mean for male unemployment: 6.34</a:t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828872" y="2855084"/>
            <a:ext cx="2027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Unemployment is right skewed which suggests unusually high unemployment rates.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43434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